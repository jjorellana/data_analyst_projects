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75" r:id="rId3"/>
    <p:sldId id="274" r:id="rId4"/>
    <p:sldId id="258" r:id="rId5"/>
    <p:sldId id="276" r:id="rId6"/>
    <p:sldId id="257" r:id="rId7"/>
    <p:sldId id="277" r:id="rId8"/>
    <p:sldId id="259" r:id="rId9"/>
    <p:sldId id="260" r:id="rId10"/>
    <p:sldId id="261" r:id="rId11"/>
    <p:sldId id="278" r:id="rId12"/>
    <p:sldId id="262" r:id="rId13"/>
    <p:sldId id="263" r:id="rId14"/>
    <p:sldId id="264" r:id="rId15"/>
    <p:sldId id="279" r:id="rId16"/>
    <p:sldId id="265" r:id="rId17"/>
    <p:sldId id="266" r:id="rId18"/>
    <p:sldId id="273" r:id="rId19"/>
    <p:sldId id="280" r:id="rId20"/>
    <p:sldId id="267" r:id="rId21"/>
    <p:sldId id="268" r:id="rId22"/>
    <p:sldId id="269" r:id="rId23"/>
    <p:sldId id="281" r:id="rId24"/>
    <p:sldId id="270" r:id="rId25"/>
    <p:sldId id="271" r:id="rId26"/>
    <p:sldId id="272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orellana" userId="de999d8734341581" providerId="LiveId" clId="{76190A23-D170-44BC-B640-80E9347BC1BD}"/>
    <pc:docChg chg="modSld">
      <pc:chgData name="Julio orellana" userId="de999d8734341581" providerId="LiveId" clId="{76190A23-D170-44BC-B640-80E9347BC1BD}" dt="2026-06-12T23:42:55.856" v="18" actId="20577"/>
      <pc:docMkLst>
        <pc:docMk/>
      </pc:docMkLst>
      <pc:sldChg chg="modSp mod">
        <pc:chgData name="Julio orellana" userId="de999d8734341581" providerId="LiveId" clId="{76190A23-D170-44BC-B640-80E9347BC1BD}" dt="2026-06-12T23:42:55.856" v="18" actId="20577"/>
        <pc:sldMkLst>
          <pc:docMk/>
          <pc:sldMk cId="435680977" sldId="283"/>
        </pc:sldMkLst>
        <pc:spChg chg="mod">
          <ac:chgData name="Julio orellana" userId="de999d8734341581" providerId="LiveId" clId="{76190A23-D170-44BC-B640-80E9347BC1BD}" dt="2026-06-12T23:42:55.856" v="18" actId="20577"/>
          <ac:spMkLst>
            <pc:docMk/>
            <pc:sldMk cId="435680977" sldId="283"/>
            <ac:spMk id="3" creationId="{DD2BFDC0-DB2E-152D-FE0D-8A979BDD4D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1C456-69DB-441F-9E7E-FB200311AED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FF412-3166-4B8F-B28A-6D638D5D0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CFF412-3166-4B8F-B28A-6D638D5D0A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32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0DA6D99-0D2E-47DC-938F-F8B1C11E94B6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8986-8E77-48C9-826F-9F7FA3D6430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8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CF8CEE-2C71-4268-9AE9-F7989A5A962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4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6BE1E-BE21-441B-AEB9-063AAFE7E1D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0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693A-4DF7-4C45-BB3E-FD505589151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97A-A278-49E2-A570-D177B75D7780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6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33F8E-3C36-4F44-A88C-8EFAF8F7D315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5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0754-2481-4974-9434-534C701A1817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3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790B-F359-4428-A974-8CD4D95BF7A7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5D66-BD9A-48BD-9E38-F3F14E8512A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5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6ABD3AF-571B-4707-915B-8CB48E69FC10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33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A888125-3C78-49DA-B2E7-0FF0006C7B0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9270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5992E7-5CD2-4588-AF7E-61F2E310765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05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2F1E-A60D-467E-AACC-ECEE64267E9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79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417-3810-41B9-8ADC-F46A114A6DF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458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3A00-2E0E-4312-8ECC-46090348680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68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5A00B6F-35C4-4E68-AA2F-629E43B37DC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8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2E838-5BB9-48FD-88D9-8287AAE0B9AB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24DAC-3767-49A7-9C7C-EFD9AC1CEA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52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7.xml"/><Relationship Id="rId7" Type="http://schemas.openxmlformats.org/officeDocument/2006/relationships/slide" Target="slide2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rdorintelligence.com/industry-reports/data-visualization-applications-market-future-of-decision-making-industr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msforum.com/data-visualization-make-the-most-of-your-lab-informatics/94039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usiness-presentation-project-project-management-2399065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glassdoor.com/Salaries/project-management-analyst-salary-SRCH_KO0,26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lassdoor.com/Salaries/business-analyst-salary-SRCH_KO0,16.ht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data-science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lassdoor.com/Salaries/data-scientist-salary-SRCH_KO0,14.ht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17219752/data-visualization-tool-for-transactions-in-a-map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glassdoor.com/Salaries/data-visualization-engineer-salary-SRCH_KO0,27.ht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xfuel.com/es/free-photo-xtulq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glassdoor.com/Salaries/software-developer-salary-SRCH_KO0,18.htm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DE31-80C9-C4F7-91D6-9C53DF90AF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Careers in Data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77159-33AE-DDFE-E673-A54916E20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Julio Orellana </a:t>
            </a:r>
          </a:p>
          <a:p>
            <a:r>
              <a:rPr lang="en-US" dirty="0"/>
              <a:t>May 7, 2024</a:t>
            </a:r>
          </a:p>
        </p:txBody>
      </p:sp>
    </p:spTree>
    <p:extLst>
      <p:ext uri="{BB962C8B-B14F-4D97-AF65-F5344CB8AC3E}">
        <p14:creationId xmlns:p14="http://schemas.microsoft.com/office/powerpoint/2010/main" val="35340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304B-0EDF-B4B6-F66F-0ED3936C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9866FD-EDEF-E4ED-6D9D-7ABF222627F3}"/>
              </a:ext>
            </a:extLst>
          </p:cNvPr>
          <p:cNvGrpSpPr/>
          <p:nvPr/>
        </p:nvGrpSpPr>
        <p:grpSpPr>
          <a:xfrm>
            <a:off x="1091184" y="1964519"/>
            <a:ext cx="2990088" cy="1293028"/>
            <a:chOff x="1091184" y="1964519"/>
            <a:chExt cx="2990088" cy="1293028"/>
          </a:xfrm>
        </p:grpSpPr>
        <p:sp>
          <p:nvSpPr>
            <p:cNvPr id="4" name="Rectangle: Rounded Corners 3">
              <a:hlinkClick r:id="rId2" action="ppaction://hlinksldjump" highlightClick="1"/>
              <a:extLst>
                <a:ext uri="{FF2B5EF4-FFF2-40B4-BE49-F238E27FC236}">
                  <a16:creationId xmlns:a16="http://schemas.microsoft.com/office/drawing/2014/main" id="{20B4B4B6-EF72-1715-F3FE-713DC911ECD5}"/>
                </a:ext>
              </a:extLst>
            </p:cNvPr>
            <p:cNvSpPr/>
            <p:nvPr/>
          </p:nvSpPr>
          <p:spPr>
            <a:xfrm>
              <a:off x="1091184" y="1964519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20B435-2566-1DAB-AFC1-35570EAF6B90}"/>
                </a:ext>
              </a:extLst>
            </p:cNvPr>
            <p:cNvSpPr txBox="1"/>
            <p:nvPr/>
          </p:nvSpPr>
          <p:spPr>
            <a:xfrm>
              <a:off x="1442847" y="2399611"/>
              <a:ext cx="2194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1	 Introduction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1ED9FE-3830-179D-D698-F176A536458A}"/>
              </a:ext>
            </a:extLst>
          </p:cNvPr>
          <p:cNvGrpSpPr/>
          <p:nvPr/>
        </p:nvGrpSpPr>
        <p:grpSpPr>
          <a:xfrm>
            <a:off x="8516112" y="1937763"/>
            <a:ext cx="2990088" cy="1293028"/>
            <a:chOff x="8516112" y="1937763"/>
            <a:chExt cx="2990088" cy="1293028"/>
          </a:xfrm>
        </p:grpSpPr>
        <p:sp>
          <p:nvSpPr>
            <p:cNvPr id="12" name="Rectangle: Rounded Corners 11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AA0A0BAC-A9BC-1CED-6087-975C08E0ECEC}"/>
                </a:ext>
              </a:extLst>
            </p:cNvPr>
            <p:cNvSpPr/>
            <p:nvPr/>
          </p:nvSpPr>
          <p:spPr>
            <a:xfrm>
              <a:off x="8516112" y="1937763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B9A2B3-5BEA-96AA-A00C-1CF5E257DAA7}"/>
                </a:ext>
              </a:extLst>
            </p:cNvPr>
            <p:cNvSpPr txBox="1"/>
            <p:nvPr/>
          </p:nvSpPr>
          <p:spPr>
            <a:xfrm>
              <a:off x="8987028" y="2144273"/>
              <a:ext cx="21945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3	Data Analyst 	Project 	Manager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29907B-5B66-767E-389A-AF97E1D496FF}"/>
              </a:ext>
            </a:extLst>
          </p:cNvPr>
          <p:cNvGrpSpPr/>
          <p:nvPr/>
        </p:nvGrpSpPr>
        <p:grpSpPr>
          <a:xfrm>
            <a:off x="4836414" y="1961810"/>
            <a:ext cx="2990088" cy="1293028"/>
            <a:chOff x="4836414" y="1961810"/>
            <a:chExt cx="2990088" cy="1293028"/>
          </a:xfrm>
        </p:grpSpPr>
        <p:sp>
          <p:nvSpPr>
            <p:cNvPr id="11" name="Rectangle: Rounded Corners 10">
              <a:hlinkClick r:id="rId4" action="ppaction://hlinksldjump" highlightClick="1"/>
              <a:extLst>
                <a:ext uri="{FF2B5EF4-FFF2-40B4-BE49-F238E27FC236}">
                  <a16:creationId xmlns:a16="http://schemas.microsoft.com/office/drawing/2014/main" id="{D31596A2-7D52-2AD7-20F8-0C16B78903B0}"/>
                </a:ext>
              </a:extLst>
            </p:cNvPr>
            <p:cNvSpPr/>
            <p:nvPr/>
          </p:nvSpPr>
          <p:spPr>
            <a:xfrm>
              <a:off x="4836414" y="1961810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DF9B3A-8D1A-30D7-8E59-AE7117D6A59E}"/>
                </a:ext>
              </a:extLst>
            </p:cNvPr>
            <p:cNvSpPr txBox="1"/>
            <p:nvPr/>
          </p:nvSpPr>
          <p:spPr>
            <a:xfrm>
              <a:off x="5394199" y="2399611"/>
              <a:ext cx="2194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2	 Job Roles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4D7799-5B3A-6249-8075-DC354C216A0E}"/>
              </a:ext>
            </a:extLst>
          </p:cNvPr>
          <p:cNvGrpSpPr/>
          <p:nvPr/>
        </p:nvGrpSpPr>
        <p:grpSpPr>
          <a:xfrm>
            <a:off x="2586228" y="3441126"/>
            <a:ext cx="2990088" cy="1293028"/>
            <a:chOff x="2586228" y="3441126"/>
            <a:chExt cx="2990088" cy="1293028"/>
          </a:xfrm>
        </p:grpSpPr>
        <p:sp>
          <p:nvSpPr>
            <p:cNvPr id="13" name="Rectangle: Rounded Corners 12">
              <a:hlinkClick r:id="rId5" action="ppaction://hlinksldjump" highlightClick="1"/>
              <a:extLst>
                <a:ext uri="{FF2B5EF4-FFF2-40B4-BE49-F238E27FC236}">
                  <a16:creationId xmlns:a16="http://schemas.microsoft.com/office/drawing/2014/main" id="{6A7B66B5-C0B8-E4C1-BE5A-1782E87D6852}"/>
                </a:ext>
              </a:extLst>
            </p:cNvPr>
            <p:cNvSpPr/>
            <p:nvPr/>
          </p:nvSpPr>
          <p:spPr>
            <a:xfrm>
              <a:off x="2586228" y="3441126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C8E318-8D99-A5C6-2E7C-0F5A9E994198}"/>
                </a:ext>
              </a:extLst>
            </p:cNvPr>
            <p:cNvSpPr txBox="1"/>
            <p:nvPr/>
          </p:nvSpPr>
          <p:spPr>
            <a:xfrm>
              <a:off x="2870264" y="3853064"/>
              <a:ext cx="2592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4	 Business Analyst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33EB6-D9E8-036F-EAEF-24E1463ED4C4}"/>
              </a:ext>
            </a:extLst>
          </p:cNvPr>
          <p:cNvGrpSpPr/>
          <p:nvPr/>
        </p:nvGrpSpPr>
        <p:grpSpPr>
          <a:xfrm>
            <a:off x="6824472" y="3418366"/>
            <a:ext cx="2990088" cy="1293028"/>
            <a:chOff x="6824472" y="3418366"/>
            <a:chExt cx="2990088" cy="1293028"/>
          </a:xfrm>
        </p:grpSpPr>
        <p:sp>
          <p:nvSpPr>
            <p:cNvPr id="14" name="Rectangle: Rounded Corners 13">
              <a:hlinkClick r:id="rId6" action="ppaction://hlinksldjump" highlightClick="1"/>
              <a:extLst>
                <a:ext uri="{FF2B5EF4-FFF2-40B4-BE49-F238E27FC236}">
                  <a16:creationId xmlns:a16="http://schemas.microsoft.com/office/drawing/2014/main" id="{1107C07A-7BBA-4876-F148-F5E0F248C99E}"/>
                </a:ext>
              </a:extLst>
            </p:cNvPr>
            <p:cNvSpPr/>
            <p:nvPr/>
          </p:nvSpPr>
          <p:spPr>
            <a:xfrm>
              <a:off x="6824472" y="3418366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EF74B0-6E75-C21A-623A-CB8E9F334501}"/>
                </a:ext>
              </a:extLst>
            </p:cNvPr>
            <p:cNvSpPr txBox="1"/>
            <p:nvPr/>
          </p:nvSpPr>
          <p:spPr>
            <a:xfrm>
              <a:off x="7222236" y="3853064"/>
              <a:ext cx="2194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5	 Data Scientist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917664B-0535-E7A2-EFF2-348E73FD0563}"/>
              </a:ext>
            </a:extLst>
          </p:cNvPr>
          <p:cNvGrpSpPr/>
          <p:nvPr/>
        </p:nvGrpSpPr>
        <p:grpSpPr>
          <a:xfrm>
            <a:off x="4836414" y="4826425"/>
            <a:ext cx="2990088" cy="1293028"/>
            <a:chOff x="4836414" y="4826425"/>
            <a:chExt cx="2990088" cy="1293028"/>
          </a:xfrm>
        </p:grpSpPr>
        <p:sp>
          <p:nvSpPr>
            <p:cNvPr id="15" name="Rectangle: Rounded Corners 14">
              <a:hlinkClick r:id="rId7" action="ppaction://hlinksldjump" highlightClick="1"/>
              <a:extLst>
                <a:ext uri="{FF2B5EF4-FFF2-40B4-BE49-F238E27FC236}">
                  <a16:creationId xmlns:a16="http://schemas.microsoft.com/office/drawing/2014/main" id="{399AA36E-5299-6B8B-E6AD-F8E6C83ECB13}"/>
                </a:ext>
              </a:extLst>
            </p:cNvPr>
            <p:cNvSpPr/>
            <p:nvPr/>
          </p:nvSpPr>
          <p:spPr>
            <a:xfrm>
              <a:off x="4836414" y="4826425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96577D-9AB8-845D-80A0-9F637B4A9963}"/>
                </a:ext>
              </a:extLst>
            </p:cNvPr>
            <p:cNvSpPr txBox="1"/>
            <p:nvPr/>
          </p:nvSpPr>
          <p:spPr>
            <a:xfrm>
              <a:off x="5236274" y="5147652"/>
              <a:ext cx="25902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7 	Software 	Developer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A04221-188E-9987-215E-921B59E6B10B}"/>
              </a:ext>
            </a:extLst>
          </p:cNvPr>
          <p:cNvGrpSpPr/>
          <p:nvPr/>
        </p:nvGrpSpPr>
        <p:grpSpPr>
          <a:xfrm>
            <a:off x="8516112" y="4826425"/>
            <a:ext cx="2990088" cy="1293028"/>
            <a:chOff x="8516112" y="4826425"/>
            <a:chExt cx="2990088" cy="1293028"/>
          </a:xfrm>
        </p:grpSpPr>
        <p:sp>
          <p:nvSpPr>
            <p:cNvPr id="16" name="Rectangle: Rounded Corners 15">
              <a:hlinkClick r:id="rId8" action="ppaction://hlinksldjump" highlightClick="1"/>
              <a:extLst>
                <a:ext uri="{FF2B5EF4-FFF2-40B4-BE49-F238E27FC236}">
                  <a16:creationId xmlns:a16="http://schemas.microsoft.com/office/drawing/2014/main" id="{F8930633-DBBD-191E-2E55-F56B87F757D9}"/>
                </a:ext>
              </a:extLst>
            </p:cNvPr>
            <p:cNvSpPr/>
            <p:nvPr/>
          </p:nvSpPr>
          <p:spPr>
            <a:xfrm>
              <a:off x="8516112" y="4826425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58BD0A-1EA5-E15A-2235-5FD8C1FCEC88}"/>
                </a:ext>
              </a:extLst>
            </p:cNvPr>
            <p:cNvSpPr txBox="1"/>
            <p:nvPr/>
          </p:nvSpPr>
          <p:spPr>
            <a:xfrm>
              <a:off x="8987028" y="5285987"/>
              <a:ext cx="2194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8	Conclusion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71A49B-E161-56F7-BDF6-0B9082D14436}"/>
              </a:ext>
            </a:extLst>
          </p:cNvPr>
          <p:cNvGrpSpPr/>
          <p:nvPr/>
        </p:nvGrpSpPr>
        <p:grpSpPr>
          <a:xfrm>
            <a:off x="1087279" y="4835262"/>
            <a:ext cx="2990088" cy="1293028"/>
            <a:chOff x="1087279" y="4835262"/>
            <a:chExt cx="2990088" cy="1293028"/>
          </a:xfrm>
        </p:grpSpPr>
        <p:sp>
          <p:nvSpPr>
            <p:cNvPr id="28" name="Rectangle: Rounded Corners 27">
              <a:hlinkClick r:id="rId9" action="ppaction://hlinksldjump" highlightClick="1"/>
              <a:extLst>
                <a:ext uri="{FF2B5EF4-FFF2-40B4-BE49-F238E27FC236}">
                  <a16:creationId xmlns:a16="http://schemas.microsoft.com/office/drawing/2014/main" id="{F285B7B4-64D3-A77E-1D98-97E16A6D00D3}"/>
                </a:ext>
              </a:extLst>
            </p:cNvPr>
            <p:cNvSpPr/>
            <p:nvPr/>
          </p:nvSpPr>
          <p:spPr>
            <a:xfrm>
              <a:off x="1087279" y="4835262"/>
              <a:ext cx="2990088" cy="12930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17352B4-FD89-842E-12DD-1FA7A7885685}"/>
                </a:ext>
              </a:extLst>
            </p:cNvPr>
            <p:cNvSpPr txBox="1"/>
            <p:nvPr/>
          </p:nvSpPr>
          <p:spPr>
            <a:xfrm>
              <a:off x="1287209" y="5020111"/>
              <a:ext cx="25902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entury Gothic" panose="020B0502020202020204" pitchFamily="34" charset="0"/>
                </a:rPr>
                <a:t>6 	Data 	Visualization 	engineer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9690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8FCE-F420-8344-8D1F-DA8C9993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2" y="1553287"/>
            <a:ext cx="9457944" cy="129302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	</a:t>
            </a:r>
            <a:r>
              <a:rPr lang="en-US" sz="6700" dirty="0"/>
              <a:t>			INTRODUCTION</a:t>
            </a:r>
          </a:p>
        </p:txBody>
      </p:sp>
      <p:pic>
        <p:nvPicPr>
          <p:cNvPr id="5" name="Content Placeholder 4" descr="Bar graph with upward trend with solid fill">
            <a:extLst>
              <a:ext uri="{FF2B5EF4-FFF2-40B4-BE49-F238E27FC236}">
                <a16:creationId xmlns:a16="http://schemas.microsoft.com/office/drawing/2014/main" id="{C76A64F2-E9B6-38AA-263B-EEF3E13CD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" y="4011685"/>
            <a:ext cx="3063240" cy="306324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D4849-A18A-176E-FF5C-8DCB12A92C8E}"/>
              </a:ext>
            </a:extLst>
          </p:cNvPr>
          <p:cNvSpPr txBox="1"/>
          <p:nvPr/>
        </p:nvSpPr>
        <p:spPr>
          <a:xfrm>
            <a:off x="3569208" y="3209544"/>
            <a:ext cx="7178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Visualization is a robust and diverse skill that is need in many careers lets dive into some information about data visualization and look at some job roles that require it!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88734-7271-1462-0ACB-1690E9D8EE14}"/>
              </a:ext>
            </a:extLst>
          </p:cNvPr>
          <p:cNvSpPr txBox="1"/>
          <p:nvPr/>
        </p:nvSpPr>
        <p:spPr>
          <a:xfrm>
            <a:off x="265176" y="4572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2741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9E19-A2A6-FD02-9FC9-FA0162F0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the job industry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3D6F-4E81-4627-B300-5F361BA8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46604"/>
            <a:ext cx="5632704" cy="3320037"/>
          </a:xfrm>
        </p:spPr>
        <p:txBody>
          <a:bodyPr/>
          <a:lstStyle/>
          <a:p>
            <a:r>
              <a:rPr lang="en-US" dirty="0"/>
              <a:t>With our modern society advancing ever so much! We now see an increased demand in data processing needed.</a:t>
            </a:r>
          </a:p>
          <a:p>
            <a:r>
              <a:rPr lang="en-US" dirty="0"/>
              <a:t>This increase has been a positive and has shown a 10.95% in CAGR (Compound Annual Growth Rate). [1]</a:t>
            </a:r>
          </a:p>
          <a:p>
            <a:r>
              <a:rPr lang="en-US" dirty="0"/>
              <a:t>The market is also estimated to grow to 16.54 Billion. [1]</a:t>
            </a:r>
          </a:p>
        </p:txBody>
      </p:sp>
      <p:pic>
        <p:nvPicPr>
          <p:cNvPr id="5" name="Picture 4">
            <a:hlinkClick r:id="rId3"/>
            <a:hlinkHover r:id="rId3"/>
            <a:extLst>
              <a:ext uri="{FF2B5EF4-FFF2-40B4-BE49-F238E27FC236}">
                <a16:creationId xmlns:a16="http://schemas.microsoft.com/office/drawing/2014/main" id="{DF373D0A-3B02-60C2-74E8-3B22CABA2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87167"/>
            <a:ext cx="5475195" cy="332003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FDF9DED-6B20-D785-47B8-57FF3C46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[1] https://www.mordorintelligence.com/industry-reports/data-visualization-applications-market-future-of-decision-making-industry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4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45E9-6DD1-D168-7CC3-4F3DBDF0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782486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Job ROLES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122D3-1AD5-2170-3585-B1F01AF78E28}"/>
              </a:ext>
            </a:extLst>
          </p:cNvPr>
          <p:cNvSpPr txBox="1"/>
          <p:nvPr/>
        </p:nvSpPr>
        <p:spPr>
          <a:xfrm>
            <a:off x="459486" y="45541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331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4A8D-5CE4-13DD-EF64-FD9B4772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 for data visualization?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BE8F-90A6-9860-38C7-98739FB98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4304" y="2295144"/>
            <a:ext cx="4836714" cy="390525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Analyst Project </a:t>
            </a:r>
            <a:r>
              <a:rPr lang="en-US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anager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Business Analyst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Scientist</a:t>
            </a:r>
            <a:endParaRPr lang="en-US" sz="24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Visualization Engineer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Software Developer</a:t>
            </a:r>
          </a:p>
          <a:p>
            <a:pPr marL="342900" indent="-342900">
              <a:buFont typeface="+mj-lt"/>
              <a:buAutoNum type="arabicPeriod"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 descr="A person looking at a large screen&#10;&#10;Description automatically generated">
            <a:extLst>
              <a:ext uri="{FF2B5EF4-FFF2-40B4-BE49-F238E27FC236}">
                <a16:creationId xmlns:a16="http://schemas.microsoft.com/office/drawing/2014/main" id="{B73DB242-6E6D-188F-DFEC-96755F3F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8359" y="2424112"/>
            <a:ext cx="6492586" cy="2550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15493-CC65-B69A-1E7A-8A8E4279646D}"/>
              </a:ext>
            </a:extLst>
          </p:cNvPr>
          <p:cNvSpPr txBox="1"/>
          <p:nvPr/>
        </p:nvSpPr>
        <p:spPr>
          <a:xfrm>
            <a:off x="148359" y="5043487"/>
            <a:ext cx="64925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limsforum.com/data-visualization-make-the-most-of-your-lab-informatics/94039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9592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B6EE-757B-9A56-143C-4562FA7D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693757"/>
            <a:ext cx="8610600" cy="1293028"/>
          </a:xfrm>
        </p:spPr>
        <p:txBody>
          <a:bodyPr>
            <a:noAutofit/>
          </a:bodyPr>
          <a:lstStyle/>
          <a:p>
            <a:r>
              <a:rPr lang="en-US" sz="6000" b="1" dirty="0"/>
              <a:t>Data Analyst project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C0A9A-BB43-BED8-54B7-EFDC7E72FCB6}"/>
              </a:ext>
            </a:extLst>
          </p:cNvPr>
          <p:cNvSpPr txBox="1"/>
          <p:nvPr/>
        </p:nvSpPr>
        <p:spPr>
          <a:xfrm>
            <a:off x="459486" y="45541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2028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7D06-50D4-E7E6-4EEF-73AAAAAD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764373"/>
            <a:ext cx="8991600" cy="1293028"/>
          </a:xfrm>
        </p:spPr>
        <p:txBody>
          <a:bodyPr/>
          <a:lstStyle/>
          <a:p>
            <a:r>
              <a:rPr lang="en-US" dirty="0"/>
              <a:t>Job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CDB7-3645-1937-2AA9-1A2A4B49A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33600"/>
            <a:ext cx="6232236" cy="4085085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 a Data </a:t>
            </a:r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nalyst </a:t>
            </a:r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roject </a:t>
            </a:r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anager, you are responsible for leading data visualization efforts across the company.</a:t>
            </a:r>
          </a:p>
          <a:p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These efforts and responsibility include :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roviding coaching on data visualization tools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nowledge-sharing</a:t>
            </a:r>
            <a:endParaRPr lang="en-US" sz="18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etting documentation code &amp; standards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aintaining documentation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anaging and processing “Big Data”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onitoring and reporting on usage as needed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erform analysis and interpretation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evelops actionable insights and recommendations</a:t>
            </a:r>
            <a:endParaRPr lang="en-US" sz="1800" dirty="0"/>
          </a:p>
        </p:txBody>
      </p:sp>
      <p:pic>
        <p:nvPicPr>
          <p:cNvPr id="12" name="Picture 11" descr="A person standing in front of a whiteboard&#10;&#10;Description automatically generated">
            <a:extLst>
              <a:ext uri="{FF2B5EF4-FFF2-40B4-BE49-F238E27FC236}">
                <a16:creationId xmlns:a16="http://schemas.microsoft.com/office/drawing/2014/main" id="{2AB83F9F-859B-EB97-413D-8BAD3E0BB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93263" y="2352422"/>
            <a:ext cx="4562423" cy="30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3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CC1F-51B7-C8B3-5776-49E1D135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888" y="764373"/>
            <a:ext cx="8973312" cy="1293028"/>
          </a:xfrm>
        </p:spPr>
        <p:txBody>
          <a:bodyPr/>
          <a:lstStyle/>
          <a:p>
            <a:r>
              <a:rPr lang="en-US" dirty="0"/>
              <a:t>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D3EA-0A6C-0B3C-042B-C6AC57DC1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396" y="2084834"/>
            <a:ext cx="9665208" cy="4024125"/>
          </a:xfrm>
        </p:spPr>
        <p:txBody>
          <a:bodyPr>
            <a:noAutofit/>
          </a:bodyPr>
          <a:lstStyle/>
          <a:p>
            <a:r>
              <a:rPr lang="en-US" sz="2000" dirty="0"/>
              <a:t>Required and preferred skills for the job are the following: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achelor's degree in a related field or equivalent work experience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roject management skills</a:t>
            </a:r>
            <a:endParaRPr lang="en-US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tatistical and data analytics experience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redictive modeling with tools such as SQL, R, Python, Excel, Hadoop, SAS, SPSS, Geo-spatial tools, and others to perform analysis and interpret data</a:t>
            </a:r>
          </a:p>
          <a:p>
            <a:pPr lvl="1"/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Collaboration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rocess development</a:t>
            </a:r>
          </a:p>
          <a:p>
            <a:pPr lvl="1"/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Marketing</a:t>
            </a:r>
          </a:p>
          <a:p>
            <a:pPr lvl="1"/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Problem-solving.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6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4390-62DB-5A66-9E48-A9A250EF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18327"/>
            <a:ext cx="6075218" cy="39003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the pay range?</a:t>
            </a:r>
          </a:p>
          <a:p>
            <a:pPr lvl="1"/>
            <a:r>
              <a:rPr lang="en-US" dirty="0"/>
              <a:t>The pay range can differ due to state and region.</a:t>
            </a:r>
          </a:p>
          <a:p>
            <a:pPr lvl="1"/>
            <a:r>
              <a:rPr lang="en-US" dirty="0"/>
              <a:t>The pay can range from $69k-$109k according to Glassdoor.com</a:t>
            </a:r>
          </a:p>
          <a:p>
            <a:pPr lvl="1"/>
            <a:endParaRPr lang="en-US" dirty="0"/>
          </a:p>
          <a:p>
            <a:r>
              <a:rPr lang="en-US" dirty="0"/>
              <a:t>Where to find Data Analyst Project Manager roles?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echnology companies 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ata companies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inancial Institutions 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ny business involved in “Big Data”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807DA1-2DBB-3333-32C8-1975B1B5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608" y="763588"/>
            <a:ext cx="8927592" cy="1293812"/>
          </a:xfrm>
        </p:spPr>
        <p:txBody>
          <a:bodyPr/>
          <a:lstStyle/>
          <a:p>
            <a:r>
              <a:rPr lang="en-US" dirty="0"/>
              <a:t>Pay range &amp; locating roles</a:t>
            </a:r>
          </a:p>
        </p:txBody>
      </p:sp>
      <p:pic>
        <p:nvPicPr>
          <p:cNvPr id="10" name="Picture 9">
            <a:hlinkClick r:id="rId2"/>
            <a:hlinkHover r:id="rId2"/>
            <a:extLst>
              <a:ext uri="{FF2B5EF4-FFF2-40B4-BE49-F238E27FC236}">
                <a16:creationId xmlns:a16="http://schemas.microsoft.com/office/drawing/2014/main" id="{3469C255-E23F-7916-A39B-D7C451834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022" y="3038168"/>
            <a:ext cx="4858412" cy="18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4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D029-B240-2508-00E1-B551FEBA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782486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Business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BED38-83B0-520F-2DA7-2D1C51EBF9ED}"/>
              </a:ext>
            </a:extLst>
          </p:cNvPr>
          <p:cNvSpPr txBox="1"/>
          <p:nvPr/>
        </p:nvSpPr>
        <p:spPr>
          <a:xfrm>
            <a:off x="377190" y="37311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1787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A897-F84F-AD9C-70C6-4041E976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EBC6-F16B-2778-C3F1-32AB6926F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619488" cy="4024125"/>
          </a:xfrm>
        </p:spPr>
        <p:txBody>
          <a:bodyPr>
            <a:normAutofit/>
          </a:bodyPr>
          <a:lstStyle/>
          <a:p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usiness </a:t>
            </a:r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nalyst’s duties are to help create and develop data strategies and a data culture that helps accelerate business decision for the company.</a:t>
            </a:r>
          </a:p>
          <a:p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business analyst needs to be able to use data-driven insights by identify opportunities where data analytics can be leveraged to enhance decision-making processes by engaging with clients and identify key variables </a:t>
            </a: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to 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develop predictions and logical results that address critical business questions. </a:t>
            </a:r>
          </a:p>
          <a:p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Perform advanced data analysis through various datasets with BI tools (Power Bl &amp; Tableau) to visualize and interpret results effectively.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76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1B03-8D50-94EE-52CF-6ADAB0AF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9B59-36D7-7123-39D5-2245F456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343" y="1933107"/>
            <a:ext cx="10837857" cy="4379976"/>
          </a:xfrm>
        </p:spPr>
        <p:txBody>
          <a:bodyPr>
            <a:normAutofit/>
          </a:bodyPr>
          <a:lstStyle/>
          <a:p>
            <a:r>
              <a:rPr lang="en-US" sz="2400" dirty="0"/>
              <a:t>Required and preferred skills for the job are the following: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achelor's degree in data science, Statistics, Computer Science or a related data centric-technical field 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xpert in using data visualization tools such as Tableau, Power Bl </a:t>
            </a:r>
          </a:p>
          <a:p>
            <a:pPr lvl="1"/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Experience with cloud computing data platforms such as Azure, AWS, etc... 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ata extraction methodologies</a:t>
            </a:r>
          </a:p>
          <a:p>
            <a:pPr lvl="1"/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Experience with SQL </a:t>
            </a:r>
            <a:endParaRPr lang="en-US" sz="18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ata analysis 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roblem-solving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ime management</a:t>
            </a:r>
          </a:p>
          <a:p>
            <a:pPr lvl="1"/>
            <a:r>
              <a:rPr lang="en-US" sz="1800" dirty="0"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inancial knowledge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10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43A8-802D-F9CB-2ECE-E08DA692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range &amp; locating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C0CA-ED9E-E38E-769F-5E6D53389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24364"/>
            <a:ext cx="5751945" cy="4532075"/>
          </a:xfrm>
        </p:spPr>
        <p:txBody>
          <a:bodyPr/>
          <a:lstStyle/>
          <a:p>
            <a:r>
              <a:rPr lang="en-US" dirty="0"/>
              <a:t>What is the pay range?</a:t>
            </a:r>
          </a:p>
          <a:p>
            <a:pPr lvl="1"/>
            <a:r>
              <a:rPr lang="en-US" dirty="0"/>
              <a:t>As we see the pay range can differ due to state, region and companies.</a:t>
            </a:r>
          </a:p>
          <a:p>
            <a:pPr lvl="1"/>
            <a:r>
              <a:rPr lang="en-US" dirty="0"/>
              <a:t>The pay can range from $78k-$125k according to Glassdoor.com</a:t>
            </a:r>
          </a:p>
          <a:p>
            <a:pPr lvl="1"/>
            <a:endParaRPr lang="en-US" dirty="0"/>
          </a:p>
          <a:p>
            <a:r>
              <a:rPr lang="en-US" dirty="0"/>
              <a:t>Where to find Business Analyst roles?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echnology companies 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Consulting Firms</a:t>
            </a:r>
            <a:endParaRPr lang="en-US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inancial Institutions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Healthcare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hlinkClick r:id="rId2"/>
            <a:hlinkHover r:id="rId2"/>
            <a:extLst>
              <a:ext uri="{FF2B5EF4-FFF2-40B4-BE49-F238E27FC236}">
                <a16:creationId xmlns:a16="http://schemas.microsoft.com/office/drawing/2014/main" id="{D5A37B13-1371-9F97-543F-CA542F01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20" y="2863868"/>
            <a:ext cx="4982710" cy="18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80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7E81-873F-B7A0-5172-E2F1B75F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3032085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Data Scientist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D6DA8-6999-72CC-8CE1-6A16D53A4ED6}"/>
              </a:ext>
            </a:extLst>
          </p:cNvPr>
          <p:cNvSpPr txBox="1"/>
          <p:nvPr/>
        </p:nvSpPr>
        <p:spPr>
          <a:xfrm>
            <a:off x="377190" y="37311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9866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7415981" cy="4024125"/>
          </a:xfrm>
        </p:spPr>
        <p:txBody>
          <a:bodyPr>
            <a:normAutofit/>
          </a:bodyPr>
          <a:lstStyle/>
          <a:p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Data </a:t>
            </a:r>
            <a:r>
              <a:rPr lang="en-US" sz="2000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cientist is to be responsible for designing, processing and developing data sets, visualization, and data-driven solutions for your company. </a:t>
            </a:r>
          </a:p>
          <a:p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Scientist conduct this by analyzing data in a format that can be presented to show data driven solutions. </a:t>
            </a:r>
          </a:p>
          <a:p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ata </a:t>
            </a:r>
            <a:r>
              <a:rPr lang="en-US" sz="2000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cientist must also collaborate with team members to create data-driven solutions &amp; visualizations that can be presented in a clear precise manner.</a:t>
            </a:r>
          </a:p>
          <a:p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data scientist must also be up to date on any advances in their technological field or programs.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072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784" y="704088"/>
            <a:ext cx="6376416" cy="1353313"/>
          </a:xfrm>
        </p:spPr>
        <p:txBody>
          <a:bodyPr/>
          <a:lstStyle/>
          <a:p>
            <a:r>
              <a:rPr lang="en-US" dirty="0"/>
              <a:t>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53087"/>
            <a:ext cx="5997804" cy="4024125"/>
          </a:xfrm>
        </p:spPr>
        <p:txBody>
          <a:bodyPr/>
          <a:lstStyle/>
          <a:p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preferred skills and required skills are:</a:t>
            </a:r>
          </a:p>
          <a:p>
            <a:pPr lvl="1"/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achelor's degree in computer science, mathematics, statistics, or a related field and/or experience.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Advanced knowledge of data analysis tools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Demonstrated experience with data visualization software.</a:t>
            </a:r>
          </a:p>
          <a:p>
            <a:pPr marL="0" indent="0">
              <a:buNone/>
            </a:pP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A person and person standing together&#10;&#10;Description automatically generated">
            <a:extLst>
              <a:ext uri="{FF2B5EF4-FFF2-40B4-BE49-F238E27FC236}">
                <a16:creationId xmlns:a16="http://schemas.microsoft.com/office/drawing/2014/main" id="{E1AFC362-CF32-DDB8-06CD-92D4E9083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4927" y="1316735"/>
            <a:ext cx="4469740" cy="508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2999E6-1273-7601-C70B-CA081AE99F84}"/>
              </a:ext>
            </a:extLst>
          </p:cNvPr>
          <p:cNvSpPr txBox="1"/>
          <p:nvPr/>
        </p:nvSpPr>
        <p:spPr>
          <a:xfrm>
            <a:off x="1391557" y="6428085"/>
            <a:ext cx="36090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devopedia.org/data-science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37956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768" y="639317"/>
            <a:ext cx="8610600" cy="1293028"/>
          </a:xfrm>
        </p:spPr>
        <p:txBody>
          <a:bodyPr/>
          <a:lstStyle/>
          <a:p>
            <a:r>
              <a:rPr lang="en-US" dirty="0"/>
              <a:t>Pay range &amp; locating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04104"/>
            <a:ext cx="5724832" cy="4114580"/>
          </a:xfrm>
        </p:spPr>
        <p:txBody>
          <a:bodyPr/>
          <a:lstStyle/>
          <a:p>
            <a:r>
              <a:rPr lang="en-US" dirty="0"/>
              <a:t>What is the pay range?</a:t>
            </a:r>
          </a:p>
          <a:p>
            <a:pPr lvl="1"/>
            <a:r>
              <a:rPr lang="en-US" dirty="0"/>
              <a:t>As we see again the pay range can differ due to state, region and companies.</a:t>
            </a:r>
          </a:p>
          <a:p>
            <a:pPr lvl="1"/>
            <a:r>
              <a:rPr lang="en-US" dirty="0"/>
              <a:t>The pay can range from $118k-$206k according to Glassdoor.com</a:t>
            </a:r>
          </a:p>
          <a:p>
            <a:pPr lvl="1"/>
            <a:endParaRPr lang="en-US" dirty="0"/>
          </a:p>
          <a:p>
            <a:r>
              <a:rPr lang="en-US" dirty="0"/>
              <a:t>Where to find Business Analyst roles?</a:t>
            </a:r>
          </a:p>
          <a:p>
            <a:pPr lvl="1"/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Entertainment industry</a:t>
            </a: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Consulting Firms</a:t>
            </a:r>
            <a:endParaRPr lang="en-US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inancial Institutions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Media</a:t>
            </a:r>
            <a:endParaRPr lang="en-US" dirty="0"/>
          </a:p>
        </p:txBody>
      </p:sp>
      <p:pic>
        <p:nvPicPr>
          <p:cNvPr id="5" name="Picture 4">
            <a:hlinkClick r:id="rId2"/>
            <a:hlinkHover r:id="rId2"/>
            <a:extLst>
              <a:ext uri="{FF2B5EF4-FFF2-40B4-BE49-F238E27FC236}">
                <a16:creationId xmlns:a16="http://schemas.microsoft.com/office/drawing/2014/main" id="{463872FA-88C0-BC73-B104-BC01CEBE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52" y="2753290"/>
            <a:ext cx="5241259" cy="1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47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B894-2FD0-0D4E-81B1-EE13CB50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934" y="2782486"/>
            <a:ext cx="8610600" cy="1293028"/>
          </a:xfrm>
        </p:spPr>
        <p:txBody>
          <a:bodyPr>
            <a:noAutofit/>
          </a:bodyPr>
          <a:lstStyle/>
          <a:p>
            <a:r>
              <a:rPr lang="en-US" sz="6000" b="1" dirty="0"/>
              <a:t>Data Visualization Engineer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6CCB7-4DB3-F87F-5E99-8CDBA14849F9}"/>
              </a:ext>
            </a:extLst>
          </p:cNvPr>
          <p:cNvSpPr txBox="1"/>
          <p:nvPr/>
        </p:nvSpPr>
        <p:spPr>
          <a:xfrm>
            <a:off x="349758" y="364263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7688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409176" cy="4024125"/>
          </a:xfrm>
        </p:spPr>
        <p:txBody>
          <a:bodyPr/>
          <a:lstStyle/>
          <a:p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Data 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isualization 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ngineer’s main duties requires them to lead and specify on data visualization projects that they then present to management, clients or stakeholder. </a:t>
            </a:r>
          </a:p>
          <a:p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 a data visualization engineer you need to be able to correct application of data granularity and aggregation from data - model into meaningful visualization. </a:t>
            </a:r>
          </a:p>
          <a:p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Your duties also include analyzing, investigating, and surveying data to help process and create clear and precise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43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99" y="2490891"/>
            <a:ext cx="7443216" cy="3602736"/>
          </a:xfrm>
        </p:spPr>
        <p:txBody>
          <a:bodyPr/>
          <a:lstStyle/>
          <a:p>
            <a:r>
              <a:rPr lang="en-US" sz="2000" dirty="0"/>
              <a:t>Required and preferred skills for the job are the following: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visualization experience, 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Knowledge on Power Bl or comparable products,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 experience  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Experience with large data sets </a:t>
            </a:r>
          </a:p>
          <a:p>
            <a:pPr lvl="1"/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efining best practices for data visualization.</a:t>
            </a:r>
          </a:p>
          <a:p>
            <a:endParaRPr lang="en-US" dirty="0"/>
          </a:p>
        </p:txBody>
      </p:sp>
      <p:pic>
        <p:nvPicPr>
          <p:cNvPr id="7" name="Picture 6" descr="A map of the world&#10;&#10;Description automatically generated">
            <a:extLst>
              <a:ext uri="{FF2B5EF4-FFF2-40B4-BE49-F238E27FC236}">
                <a16:creationId xmlns:a16="http://schemas.microsoft.com/office/drawing/2014/main" id="{539EA157-3A82-4BDE-833D-4C948DB40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08341" y="2596896"/>
            <a:ext cx="4140403" cy="2587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1F5219-7F7B-F8A3-794E-C8445D23B71B}"/>
              </a:ext>
            </a:extLst>
          </p:cNvPr>
          <p:cNvSpPr txBox="1"/>
          <p:nvPr/>
        </p:nvSpPr>
        <p:spPr>
          <a:xfrm>
            <a:off x="8400048" y="5390852"/>
            <a:ext cx="36486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stackoverflow.com/questions/17219752/data-visualization-tool-for-transactions-in-a-map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99857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range &amp; locating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98690" cy="4024125"/>
          </a:xfrm>
        </p:spPr>
        <p:txBody>
          <a:bodyPr/>
          <a:lstStyle/>
          <a:p>
            <a:r>
              <a:rPr lang="en-US" dirty="0"/>
              <a:t>What is the pay range?</a:t>
            </a:r>
          </a:p>
          <a:p>
            <a:pPr lvl="1"/>
            <a:r>
              <a:rPr lang="en-US" dirty="0"/>
              <a:t>As we see again the pay range can differ due to state, region and companies.</a:t>
            </a:r>
          </a:p>
          <a:p>
            <a:pPr lvl="1"/>
            <a:r>
              <a:rPr lang="en-US" dirty="0"/>
              <a:t>The pay can range from $91k-$162k according to Glassdoor.com</a:t>
            </a:r>
          </a:p>
          <a:p>
            <a:pPr lvl="1"/>
            <a:endParaRPr lang="en-US" dirty="0"/>
          </a:p>
          <a:p>
            <a:r>
              <a:rPr lang="en-US" dirty="0"/>
              <a:t>Where to find Business Analyst roles?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Media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Marketing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Retail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hlinkClick r:id="rId2"/>
            <a:hlinkHover r:id="rId2"/>
            <a:extLst>
              <a:ext uri="{FF2B5EF4-FFF2-40B4-BE49-F238E27FC236}">
                <a16:creationId xmlns:a16="http://schemas.microsoft.com/office/drawing/2014/main" id="{54A9D4A8-BFA5-2DE5-FF11-4CE919AFD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099" y="2899779"/>
            <a:ext cx="5129101" cy="19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21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uter code in a room&#10;&#10;Description automatically generated">
            <a:extLst>
              <a:ext uri="{FF2B5EF4-FFF2-40B4-BE49-F238E27FC236}">
                <a16:creationId xmlns:a16="http://schemas.microsoft.com/office/drawing/2014/main" id="{632C7B4D-A065-DFBF-01E5-F4B47A2A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76583" y="1200726"/>
            <a:ext cx="9060872" cy="53701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D269CE-2EA0-9AD1-6F0E-3DA83C00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366" y="2782486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Software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50C6D-45D3-F245-E5FE-21F8235DF70E}"/>
              </a:ext>
            </a:extLst>
          </p:cNvPr>
          <p:cNvSpPr txBox="1"/>
          <p:nvPr/>
        </p:nvSpPr>
        <p:spPr>
          <a:xfrm>
            <a:off x="377190" y="354830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61542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 a software developer the main responsibilities one has are to help develop, design, build, and integrate software application for a company.</a:t>
            </a:r>
          </a:p>
          <a:p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Moreover, these applications require the usage of web technologies and data technologies to conduct the development. </a:t>
            </a:r>
          </a:p>
          <a:p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 visualization knowledge in excel, Power BI, Tableau and R are recommended. </a:t>
            </a:r>
          </a:p>
          <a:p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Provides great customer service and is adaptable. </a:t>
            </a:r>
          </a:p>
          <a:p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Learns and quickly adapts to new business.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04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Preferred and required skills are the following:</a:t>
            </a:r>
          </a:p>
          <a:p>
            <a:pPr lvl="1"/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achelor's degree in computer science, Information Systems and/or 2 years of related work experience in data modeling and analytics.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 years of hands-on experience with web, and/or server technologies using a combination of languages, including Node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Js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NET Core, CSS, and C#. 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Moreover, a minimum of 2 years in JavaScript development and experience in developing modern, fully responsive web apps using JS frameworks (Angular, Angular.JS).</a:t>
            </a:r>
          </a:p>
          <a:p>
            <a:pPr lvl="1"/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Experience integrating RESTful APIs Experience writing database queries using SQL Experience integrating applications with data visualization tools like Power Bl, Power Apps, Qlik, etc.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1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06A7-5396-9D05-E0DB-6D24EAB1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range &amp; locating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B341-A6DA-BAA5-7FA1-96F4BD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74" y="1993392"/>
            <a:ext cx="5541264" cy="4426461"/>
          </a:xfrm>
        </p:spPr>
        <p:txBody>
          <a:bodyPr/>
          <a:lstStyle/>
          <a:p>
            <a:r>
              <a:rPr lang="en-US" dirty="0"/>
              <a:t>What is the pay range?</a:t>
            </a:r>
          </a:p>
          <a:p>
            <a:pPr lvl="1"/>
            <a:r>
              <a:rPr lang="en-US" dirty="0"/>
              <a:t>As we see again the pay range can differ due to state, region and companies.</a:t>
            </a:r>
          </a:p>
          <a:p>
            <a:pPr lvl="1"/>
            <a:r>
              <a:rPr lang="en-US" dirty="0"/>
              <a:t>The pay can range from $102k-$171k according to Glassdoor.com</a:t>
            </a:r>
          </a:p>
          <a:p>
            <a:pPr lvl="1"/>
            <a:endParaRPr lang="en-US" dirty="0"/>
          </a:p>
          <a:p>
            <a:r>
              <a:rPr lang="en-US" dirty="0"/>
              <a:t>Where to find Business Analyst roles?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Technology Industry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Financial Industry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Education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Marketing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hlinkClick r:id="rId2"/>
            <a:hlinkHover r:id="rId2"/>
            <a:extLst>
              <a:ext uri="{FF2B5EF4-FFF2-40B4-BE49-F238E27FC236}">
                <a16:creationId xmlns:a16="http://schemas.microsoft.com/office/drawing/2014/main" id="{E6693B27-D0B6-2637-1FBE-1F5E9A781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679856"/>
            <a:ext cx="5071422" cy="189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94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D37C-BE5B-A071-AF55-55F03F56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894AE-729D-D0F3-2D67-8BED74456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have seen a variety of job roles require some form of data visualization and processing</a:t>
            </a:r>
          </a:p>
          <a:p>
            <a:r>
              <a:rPr lang="en-US" dirty="0"/>
              <a:t>Most importantly the use of the Data visualization technologies to help interpret the data and create a story and argument. </a:t>
            </a:r>
          </a:p>
          <a:p>
            <a:r>
              <a:rPr lang="en-US" dirty="0"/>
              <a:t>Also, we see that Data visualization happens to be an increasing job field and requirement in the CAGR.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4BFC8-D9E4-31D8-8D9A-DE2B5476B128}"/>
              </a:ext>
            </a:extLst>
          </p:cNvPr>
          <p:cNvSpPr txBox="1"/>
          <p:nvPr/>
        </p:nvSpPr>
        <p:spPr>
          <a:xfrm>
            <a:off x="413766" y="45464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8	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4922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2FA2-0742-EF06-B6F1-1095D6C6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FDC0-DB2E-152D-FE0D-8A979BDD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 find most fascinating is the versatility and diverse use of data visualization. I honest feel like this skill will be a huge factor for whether I get approved for a job or rejected. </a:t>
            </a:r>
          </a:p>
          <a:p>
            <a:r>
              <a:rPr lang="en-US" dirty="0"/>
              <a:t>Data Visualization my eyes to the different avenues and roles one may take and pursue even after college.</a:t>
            </a:r>
          </a:p>
          <a:p>
            <a:r>
              <a:rPr lang="en-US" dirty="0"/>
              <a:t>Personally, I believe my interest in Data has only grown and my curiosity has reached a peak to where no amount of information could sate the hunger, I must learn more!</a:t>
            </a:r>
          </a:p>
          <a:p>
            <a:r>
              <a:rPr lang="en-US" dirty="0"/>
              <a:t>After doing this research, the most appealing role has been the Data Scientist role. Primarily for the job title as I think it is so cool. However, my interest also genuinely lies in the responsibilities and day to day operations a data scientist goes through. Also, the Pay looks amazing!</a:t>
            </a:r>
          </a:p>
        </p:txBody>
      </p:sp>
    </p:spTree>
    <p:extLst>
      <p:ext uri="{BB962C8B-B14F-4D97-AF65-F5344CB8AC3E}">
        <p14:creationId xmlns:p14="http://schemas.microsoft.com/office/powerpoint/2010/main" val="43568097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252</TotalTime>
  <Words>1476</Words>
  <Application>Microsoft Office PowerPoint</Application>
  <PresentationFormat>Widescreen</PresentationFormat>
  <Paragraphs>170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Century Gothic</vt:lpstr>
      <vt:lpstr>Times New Roman</vt:lpstr>
      <vt:lpstr>Vapor Trail</vt:lpstr>
      <vt:lpstr>Careers in Data </vt:lpstr>
      <vt:lpstr>Table Of Content</vt:lpstr>
      <vt:lpstr>    INTRODUCTION</vt:lpstr>
      <vt:lpstr>Data in the job industry </vt:lpstr>
      <vt:lpstr>Job ROLES</vt:lpstr>
      <vt:lpstr>Jobs for data visualization?</vt:lpstr>
      <vt:lpstr>Data Analyst project manager</vt:lpstr>
      <vt:lpstr>Job Responsibilities</vt:lpstr>
      <vt:lpstr>Skills and knowledge</vt:lpstr>
      <vt:lpstr>Pay range &amp; locating roles</vt:lpstr>
      <vt:lpstr>Business Analyst</vt:lpstr>
      <vt:lpstr>Job Responsibilities</vt:lpstr>
      <vt:lpstr>Skills and knowledge</vt:lpstr>
      <vt:lpstr>Pay range &amp; locating roles</vt:lpstr>
      <vt:lpstr>Data Scientist</vt:lpstr>
      <vt:lpstr>Job Responsibilities</vt:lpstr>
      <vt:lpstr>Skills and knowledge</vt:lpstr>
      <vt:lpstr>Pay range &amp; locating roles</vt:lpstr>
      <vt:lpstr>Data Visualization Engineer</vt:lpstr>
      <vt:lpstr>Job Responsibilities</vt:lpstr>
      <vt:lpstr>Skills and knowledge</vt:lpstr>
      <vt:lpstr>Pay range &amp; locating roles</vt:lpstr>
      <vt:lpstr>Software developer</vt:lpstr>
      <vt:lpstr>Job Responsibilities</vt:lpstr>
      <vt:lpstr>Skills and knowledge</vt:lpstr>
      <vt:lpstr>Pay range &amp; locating roles</vt:lpstr>
      <vt:lpstr>Conclusion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 in Data</dc:title>
  <dc:creator>Julio orellana</dc:creator>
  <cp:lastModifiedBy>Julio Jose Jacob Orellana Reyes</cp:lastModifiedBy>
  <cp:revision>2</cp:revision>
  <dcterms:created xsi:type="dcterms:W3CDTF">2024-05-07T01:06:35Z</dcterms:created>
  <dcterms:modified xsi:type="dcterms:W3CDTF">2026-06-12T23:43:00Z</dcterms:modified>
</cp:coreProperties>
</file>